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rgbClr val="31979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D0-334A-ADFF-3AF3234F4C76}"/>
              </c:ext>
            </c:extLst>
          </c:dPt>
          <c:dPt>
            <c:idx val="1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D0-334A-ADFF-3AF3234F4C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Stayed (50,438)</c:v>
                </c:pt>
                <c:pt idx="1">
                  <c:v>Churned (49,562)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50438</c:v>
                </c:pt>
                <c:pt idx="1">
                  <c:v>49562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D0-334A-ADFF-3AF3234F4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744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2744"/>
                </a:solidFill>
                <a:latin typeface="Arial"/>
              </a:rPr>
              <a:t>5-Model Baseline Comparison — ROC-AUC × 100 (5-Fold CV)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ROC-AUC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LightGBM</c:v>
                </c:pt>
                <c:pt idx="1">
                  <c:v>XGBoost</c:v>
                </c:pt>
                <c:pt idx="2">
                  <c:v>CatBoost</c:v>
                </c:pt>
                <c:pt idx="3">
                  <c:v>Random
Forest</c:v>
                </c:pt>
                <c:pt idx="4">
                  <c:v>Logistic
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68.7</c:v>
                </c:pt>
                <c:pt idx="1">
                  <c:v>67.7</c:v>
                </c:pt>
                <c:pt idx="2">
                  <c:v>67.2</c:v>
                </c:pt>
                <c:pt idx="3">
                  <c:v>66.099999999999994</c:v>
                </c:pt>
                <c:pt idx="4">
                  <c:v>65.7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C2-4042-B324-7B779CB32E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6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64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0" cy="54864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Churn Prediction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Retention Strategy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Business Proposal for Company 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914400"/>
            <a:ext cx="3017520" cy="2560320"/>
          </a:xfrm>
          <a:prstGeom prst="roundRect">
            <a:avLst>
              <a:gd name="adj" fmla="val 5357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Current State of the Telecom Industry</a:t>
            </a:r>
            <a:endParaRPr lang="en-US" sz="1200" dirty="0">
              <a:solidFill>
                <a:schemeClr val="accent5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Prediction Using Machine Learning</a:t>
            </a:r>
            <a:endParaRPr lang="en-US" sz="1200" dirty="0">
              <a:solidFill>
                <a:schemeClr val="accent5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Our Business Proposal</a:t>
            </a:r>
            <a:endParaRPr lang="en-US" sz="1200" dirty="0">
              <a:solidFill>
                <a:schemeClr val="accent5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GCI World 2026 April  |  Matsuo-Iwasawa Lab, The University of Tokyo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of the Telecom Industry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operators face intensifying competition and rising customer churn.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5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5–10× more than retaining an existing one.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46304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1.5–3%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42900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monthly churn rate for wireless operators in competitive markets.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46304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45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↓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21792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ARPU is declining, making retention of existing high-value subscribers critical.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20040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3832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37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for Company 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has accumulated extensive customer data (usage, billing, service quality, handset info) but lacks an in-house analytics capability to predict and prevent churn. </a:t>
            </a: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building an AI churn-risk model, we can identify at-risk customers early enough for targeted retention, reducing revenue loss and improving campaign ROI.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Investopedia (ARPU &amp; Telecom KPIs), TM Forum (ODA), Bain &amp; Company (Retention Economics)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097280" cy="54864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Using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Current State of the Telecom Industry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Prediction Using Machine Learning Models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Our Business Proposal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of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provided historical customer data across two linked tables totaling ~100,000 records.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Client.csv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rows × 50 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demographics, handset info, household attributes, credit class, geographic area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A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Record.csv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3375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rows × 51 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billing, call quality, dropped/blocked calls, overage, roaming, churn label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Customer_ID (1:1 inner merge)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2920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292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04088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0" y="242316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2920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04088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columns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0" y="288036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2920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04088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(31–60 days)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846320" y="3337560"/>
          <a:ext cx="365760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conducted exploratory data analysis across 100,000 customers to identify the key churn patterns.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389120" cy="960120"/>
          </a:xfrm>
          <a:prstGeom prst="roundRect">
            <a:avLst>
              <a:gd name="adj" fmla="val 9524"/>
            </a:avLst>
          </a:prstGeom>
          <a:solidFill>
            <a:srgbClr val="FFF5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Age Is the #1 Separator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664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age (eqpdays) has the strongest effect (Cohen's d = 0.23). Churn rises from 40.7% for newest devices to 55.7% for oldest. Cheap handsets also increase risk.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4389120" cy="960120"/>
          </a:xfrm>
          <a:prstGeom prst="roundRect">
            <a:avLst>
              <a:gd name="adj" fmla="val 9524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14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Decline Signals Disengagement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27614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average 483 minutes vs 543 for non-churners. Recent usage change (change_mou) is more predictive than demographics. Trend features outperform static attributes.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3520440"/>
            <a:ext cx="4389120" cy="960120"/>
          </a:xfrm>
          <a:prstGeom prst="roundRect">
            <a:avLst>
              <a:gd name="adj" fmla="val 9524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Surprise: Support Calls ≠ Churn Risk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3858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"more complaints = more churn" hypothesis is contradicted. Churners actually make fewer customer-care calls on average (1.60 vs 1.98). Support contact alone is not a risk signal.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120640" y="1325880"/>
            <a:ext cx="3566160" cy="315468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3492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Pockets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492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features combine, risk amplifies: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057400"/>
          <a:ext cx="3108960" cy="1737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 Combination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Churn 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Low usage + High bill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58.6%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Cheap device + Low usage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59.6%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Low usage + High drops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63.7%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High usage + High bill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</a:rPr>
                        <a:t>42.3%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Premium device + High usage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</a:rPr>
                        <a:t>38.8%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4"/>
          <p:cNvSpPr/>
          <p:nvPr/>
        </p:nvSpPr>
        <p:spPr>
          <a:xfrm>
            <a:off x="534924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features are weak separators. Combined risk pockets reach 60%+ churn, making multivariate models essential.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Machine Learning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behavior, device, and service data, we predict the probability of churn within 31–60 days.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× 100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1371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→ 61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Optuna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89520" y="1371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0" y="137160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2331720"/>
          <a:ext cx="4572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selected as the best-performing model with the lowest generalization gap.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03520" y="23317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46888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89788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Tuned Model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53212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Optuna (100 trials)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5321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1780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53212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17804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63.9%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5321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17804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5321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717804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53212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178040" y="4480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63.9%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53212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7178040" y="4800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Features for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reveals how each feature contributes to individual churn predictions.</a:t>
            </a:r>
            <a:endParaRPr lang="en-US" sz="1300" dirty="0"/>
          </a:p>
        </p:txBody>
      </p:sp>
      <p:pic>
        <p:nvPicPr>
          <p:cNvPr id="4" name="Image 0" descr="/home/claude/shap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80160"/>
            <a:ext cx="47548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12801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9496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0" y="1664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tenure → high risk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38160" y="1664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9496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hnd_price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0" y="18836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handset → high risk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138160" y="1883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39496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totmrc_Mean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recurring charge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38160" y="2103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94960" y="2322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change_mou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0" y="2322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decline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138160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94960" y="2542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drop_vce_Mean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2542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calls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138160" y="2542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0.044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212080" y="301752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394960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Retention Drivers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3401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eqpdays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34015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equipment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138160" y="3401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0.139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94960" y="3621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crclscod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58000" y="3621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credit class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138160" y="36210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94960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uniqsubs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858000" y="3840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household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138160" y="38404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nonlinear and segmented — device lifecycle, tenure, and usage trends dominate over demographics. See dependence plots for detailed feature behavior.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097280" cy="54864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Business Proposal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Current State of the Telecom Industry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Prediction Using Machine Learning Models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Our Business Proposal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Business Proposals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data-driven proposals to reduce avoidable churn and protect Company A's recurring revenue.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468880"/>
          </a:xfrm>
          <a:prstGeom prst="roundRect">
            <a:avLst>
              <a:gd name="adj" fmla="val 4444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Risk Scoring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LightGBM model to score every customer monthly on churn probability. Retention teams receive a ranked risk list instead of treating all customers equally.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budget on the top 20% highest-risk customers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840480" cy="2468880"/>
          </a:xfrm>
          <a:prstGeom prst="roundRect">
            <a:avLst>
              <a:gd name="adj" fmla="val 4444"/>
            </a:avLst>
          </a:prstGeom>
          <a:solidFill>
            <a:srgbClr val="FFFA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749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Segment-Based Proactive Retention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074920" y="2331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SHAP-identified risk segments to design specific interventions: handset upgrade offers for old-device customers, plan adjustments for high-bill/low-usage users, and service follow-ups for drop-call victims.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7492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right retention action to each risk profile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062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Support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on fresh data quarterly  •  Seasonal churn pattern analysis  •  Dashboard integration for retention teams  •  A/B testing retention offer effectiveness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1: AI Churn Risk Scoring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customer monthly and route high-risk accounts to the retention team.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7452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1417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4173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4920" y="1280160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DD6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280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Outreach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0" y="1280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Customer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74920" y="1874520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319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Service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2432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012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customer monthly on churn probability using the tuned LightGBM model (ROC-AUC 0.695).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uses 61 features covering device age, usage trends, billing, and service quality to produce a 0–100 risk score.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91840" y="25146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A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624328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79476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47472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broad, untargeted retention campaigns with data-driven prioritization.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approach: spend equally on all customers. New approach: concentrate 80% of budget on the top 20% risk customers where save probability is highest.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26480" y="25146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624328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294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Effects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30936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service before frustration leads to churn.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Company A: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spend on high-risk accounts, higher save rate, lower cost-per-save, and improved campaign ROI.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of the Churn Risk 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dependence plots confirm the model captures meaningful, nonlinear customer behavior patterns.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63240" y="1325880"/>
            <a:ext cx="5623560" cy="100584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6642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344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6642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3504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16642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0664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16642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0664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dependence_month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606040"/>
            <a:ext cx="3749040" cy="1920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4544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tenure (6–12 mo) = highest churn risk zone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54880" y="25603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/home/claude/dependence_eqpday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2606040"/>
            <a:ext cx="3749040" cy="19202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846320" y="4544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equipment (&lt;300 days) = strong retention signal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Quantification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the financial benefit of AI-driven targeted retention versus untargeted campaigns.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37560"/>
          </a:xfrm>
          <a:prstGeom prst="roundRect">
            <a:avLst>
              <a:gd name="adj" fmla="val 3288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365760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Total customers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100,000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Observed churn 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DD6B20"/>
                          </a:solidFill>
                        </a:rPr>
                        <a:t>49.6%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Est. monthly ARPU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$55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Annual revenue per customer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$660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Model targets top-risk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319795"/>
                          </a:solidFill>
                        </a:rPr>
                        <a:t>Top 20%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Customers targeted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B6CB0"/>
                          </a:solidFill>
                        </a:rPr>
                        <a:t>~9,912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Save rate (targeted intervention)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319795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</a:rPr>
                        <a:t>Cost per intervention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DD6B20"/>
                          </a:solidFill>
                        </a:rPr>
                        <a:t>$30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rev_Mean ≈ $58, industry save rates 10–20%, and standard telecom retention offer costs.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846320" y="1371600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74920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Impact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Saved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~1,487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74920" y="224028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0"/>
          <p:cNvSpPr/>
          <p:nvPr/>
        </p:nvSpPr>
        <p:spPr>
          <a:xfrm>
            <a:off x="50749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4088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$981K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074920" y="269748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749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Cost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–$297K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074920" y="3154680"/>
            <a:ext cx="3383280" cy="0"/>
          </a:xfrm>
          <a:prstGeom prst="line">
            <a:avLst/>
          </a:prstGeom>
          <a:noFill/>
          <a:ln w="190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749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$684K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5074920" y="384048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12080" y="3840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</a:t>
            </a:r>
            <a:r>
              <a:rPr lang="en-US" sz="1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~230%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on retention investment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2: Segment-Based Proactive Retention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identifies three actionable customer risk segments, each with a tailored intervention.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5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Device, Low Engagement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eqpdays &gt; 400 days + declining mou_Mean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handset upgrade offer tied to contract renewal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customer with new device lock-in; reset eqpdays to 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813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7472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Bill, Low Usage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2286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totmrc_Mean + low mou_Mean (bill-to-usage mismatch)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right-sizing or loyalty discount to reduce bill shock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 from 58.6% risk pocket; improve perceived value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4813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0936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Issues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2286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drop_vce_Mean + declining change_mou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service follow-up + network team escalation in affected area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root cause before customer leaves; reduce 63.7% risk pocket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rollout to minimize risk and maximize learning at each stage.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EB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integration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deployment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packaging &amp; API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 onboarding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14173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10% of customer 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97480" y="2514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vs control group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9748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save rate &amp; ROI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3154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risk threshold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FFA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100K customer scoring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514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interventions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dashboard live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154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risk list delivery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0" y="14173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0372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03720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model retraining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2514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churn analysis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effectiveness tracking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03720" y="3154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 monitoring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end-to-end support from data integration to model monitoring. Company A's retention team receives actionable risk lists — no ML expertise required.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371600" cy="54864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can reduce annual churn-related revenue loss by ~$684K through AI-driven risk scoring and targeted, segment-specific retention actions.</a:t>
            </a:r>
            <a:endParaRPr lang="en-US" sz="1400" dirty="0">
              <a:solidFill>
                <a:schemeClr val="accent5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0.695</a:t>
            </a:r>
            <a:endParaRPr lang="en-US" sz="2200" dirty="0">
              <a:solidFill>
                <a:schemeClr val="accent5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Optuna tuned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56032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Features</a:t>
            </a:r>
            <a:endParaRPr lang="en-US" sz="2200" dirty="0">
              <a:solidFill>
                <a:schemeClr val="accent5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227 → compact &amp; interpretable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256032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$684K</a:t>
            </a:r>
            <a:endParaRPr lang="en-US" sz="2200" dirty="0">
              <a:solidFill>
                <a:schemeClr val="accent5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5040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~230% ROI on retention spend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GCI World 2026 April  |  Matsuo-Iwasawa Lab, The University of Tokyo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1581</Words>
  <Application>Microsoft Macintosh PowerPoint</Application>
  <PresentationFormat>On-screen Show (16:9)</PresentationFormat>
  <Paragraphs>325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Churn Prediction &amp; Retention Strategy for Company A</dc:title>
  <dc:subject>PptxGenJS Presentation</dc:subject>
  <dc:creator>GCI World 2026</dc:creator>
  <cp:lastModifiedBy>koushik sadhukhan</cp:lastModifiedBy>
  <cp:revision>3</cp:revision>
  <dcterms:created xsi:type="dcterms:W3CDTF">2026-06-18T08:07:04Z</dcterms:created>
  <dcterms:modified xsi:type="dcterms:W3CDTF">2026-06-18T08:16:37Z</dcterms:modified>
</cp:coreProperties>
</file>